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0972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3200400" cy="5029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GB TRADE AND LOGISTICS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8016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EASY 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007A87"/>
                </a:solidFill>
                <a:latin typeface="Calibri"/>
              </a:rPr>
              <a:t>Financial Audit &amp; Cost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200400"/>
            <a:ext cx="8531352" cy="109728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3273552"/>
            <a:ext cx="8348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ACCOUNTANT'S VERDICT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566160"/>
            <a:ext cx="8348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D03F"/>
                </a:solidFill>
                <a:latin typeface="Calibri"/>
              </a:rPr>
              <a:t>CONDITIONAL GREEN 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628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2F2F2"/>
                </a:solidFill>
                <a:latin typeface="Calibri"/>
              </a:rPr>
              <a:t>Prepared by: SMB Accountant &amp; Financial Strategist  |  April 2026  |  2-Car GTA Launch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120640"/>
            <a:ext cx="2468880" cy="5029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1480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$30,085 Audited Startup Capital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5120640"/>
            <a:ext cx="2468880" cy="5029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51480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Break-Even: Month 3–4 (Cash)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5120640"/>
            <a:ext cx="2468880" cy="5029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51480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2.4% Tech Cost /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5120640"/>
            <a:ext cx="2468880" cy="5029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51480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 Red Flags Identified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2F2F2"/>
                </a:solidFill>
                <a:latin typeface="Calibri"/>
              </a:rPr>
              <a:t>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88952" cy="731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AUDITED STARTUP CAPITAL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57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  <a:latin typeface="Calibri"/>
              </a:rPr>
              <a:t>SLIDE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30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2F2F2"/>
                </a:solidFill>
                <a:latin typeface="Calibri"/>
              </a:rPr>
              <a:t>Original plan: $22,910–$37,260 (unusable range)  |  Audited realistic: $30,085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972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$30,085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28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Audited
Startup Capital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051560"/>
            <a:ext cx="2194560" cy="146304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0972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$22,910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75564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Plan Low
(underfunded by $7,175)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051560"/>
            <a:ext cx="2194560" cy="14630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0972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$2,716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755648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Missing from
Original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051560"/>
            <a:ext cx="3794760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051560"/>
            <a:ext cx="3794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DO NOT BUY CARS
UNTIL $30K IS
CONFIRMED LIQUID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74320" y="2697480"/>
          <a:ext cx="11640311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318"/>
                <a:gridCol w="1978853"/>
                <a:gridCol w="52381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Audited Cost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Vehicles (2 cars + pre-rental work)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$11,700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CarFax + mechanic inspection included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Commercial Insurance — Year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$8,000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Largest cost. Get 3 quotes. Bind by Apr 23.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Security (GPS + Kill Switch)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Bouncie $134 + PassTime install $800 + stickers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Legal &amp; Compliance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$685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Paralegal, trade name, business license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Technology — 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$1,154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Domain + Google Workspace + tech stack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$275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Facebook ads + flyers (optional)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Working Capital Reserve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$6,900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$6K ops reserve + $800 HST float + $100 petty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5% Project Contingency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$1,272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Standard accounting practice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TOTAL AUDITED STARTUP CAPITAL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$30,085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Confirm liquid before first purchase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74320" y="6492240"/>
            <a:ext cx="116403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0392B"/>
                </a:solidFill>
                <a:latin typeface="Calibri"/>
              </a:rPr>
              <a:t>6 items totalling $2,716 were MISSING from the original business plan (CarFax, mechanic inspection, stickers, domain, HST reserve, contingency)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88952" cy="731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MONTHLY COST BREAKDOWN — 2 CARS AT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731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  <a:latin typeface="Calibri"/>
              </a:rPr>
              <a:t>SLIDE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2F2F2"/>
                </a:solidFill>
                <a:latin typeface="Calibri"/>
              </a:rPr>
              <a:t>All figures CAD. Fixed costs dominate. Utilisation rate is the primary lever.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2651760" cy="1645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78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Insurance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173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$1,500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9842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D03F"/>
                </a:solidFill>
                <a:latin typeface="Calibri"/>
              </a:rPr>
              <a:t>42% of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240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Largest fixed cost
$750/car/month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051560"/>
            <a:ext cx="2651760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078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4173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$1,800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9842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D03F"/>
                </a:solidFill>
                <a:latin typeface="Calibri"/>
              </a:rPr>
              <a:t>50% of costs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240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Auditor-adjusted
$900/car/month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051560"/>
            <a:ext cx="2651760" cy="16459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078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4173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$107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9842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D03F"/>
                </a:solidFill>
                <a:latin typeface="Calibri"/>
              </a:rPr>
              <a:t>3% of costs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240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Vercel + Supabase
+ Stripe + Twilio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051560"/>
            <a:ext cx="2651760" cy="1645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1078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Misc 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141732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$314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19842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D03F"/>
                </a:solidFill>
                <a:latin typeface="Calibri"/>
              </a:rPr>
              <a:t>5% of costs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240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GPS + PandaDoc
+ Admin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834640"/>
            <a:ext cx="1164031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297180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  <a:latin typeface="Calibri"/>
              </a:rPr>
              <a:t>REVENUE VS. COSTS — 3 SCENARIOS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274320" y="3383280"/>
          <a:ext cx="11640309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9287"/>
                <a:gridCol w="2793674"/>
                <a:gridCol w="2793674"/>
                <a:gridCol w="2793674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Conservative
65% util / $300/wk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Base Case
85% util / $325/wk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Optimistic
100% util / $350/wk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Monthly Net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$1,740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$2,869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$3,082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Total Monthly Costs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$3,690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$3,721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$3,729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NET OPERATING INCOME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-$1,950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-$852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-$647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Depreciation (non-cash)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-$556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-$556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-$556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NET INCOME BEFORE TAX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-$2,506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-$1,408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-$1,203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74320" y="530352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alibri"/>
              </a:rPr>
              <a:t>Month 1 is expected to be negative. This is normal. It is funded from the $6,000 operating reserve built into startup capital.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566928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Technology cost = $107/month on $2,869 revenue = 3.7% of revenue. Industry average: 8-15%. This team is best-in-class.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583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2F2F2"/>
                </a:solidFill>
                <a:latin typeface="Calibri"/>
              </a:rP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88952" cy="731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BREAK-EVEN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731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  <a:latin typeface="Calibri"/>
              </a:rPr>
              <a:t>SLIDE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2F2F2"/>
                </a:solidFill>
                <a:latin typeface="Calibri"/>
              </a:rPr>
              <a:t>Two break-even definitions: Cash (when revenue &gt; cash outflows) vs. Accounting (including depreciation)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2743200" cy="18288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789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CASH
BREAK-EVEN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002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4D03F"/>
                </a:solidFill>
                <a:latin typeface="Calibri"/>
              </a:rPr>
              <a:t>Month 3–4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76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(Base Case)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Revenue first exceeds
all cash costs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051560"/>
            <a:ext cx="2743200" cy="18288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0789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ACCOUNTING
BREAK-EVEN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6002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4D03F"/>
                </a:solidFill>
                <a:latin typeface="Calibri"/>
              </a:rPr>
              <a:t>Month 5–6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176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(Base Case)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Net income positive
after depreciation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2743200" cy="18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0789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PER-CAR
PAYBACK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6002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4D03F"/>
                </a:solidFill>
                <a:latin typeface="Calibri"/>
              </a:rPr>
              <a:t>13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176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(Base Case)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$6,500 all-in cost
$500/mo contribution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051560"/>
            <a:ext cx="2743200" cy="1828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0789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FULL STARTUP
PAYBACK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6002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4D03F"/>
                </a:solidFill>
                <a:latin typeface="Calibri"/>
              </a:rPr>
              <a:t>~30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176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(Base Case)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$30,085 total
$1,000/mo net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017520"/>
            <a:ext cx="11640312" cy="54864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15468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  <a:latin typeface="Calibri"/>
              </a:rPr>
              <a:t>12-MONTH CASH POSITION TIMELINE — BASE CASE ($325/wk, 85% utilisation)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584448"/>
            <a:ext cx="850392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3593592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3931920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-$30K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3584448"/>
            <a:ext cx="850392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3593592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3931920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-$31K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79" y="3584448"/>
            <a:ext cx="850392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1679" y="3593592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79" y="3931920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-$31K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79" y="4224528"/>
            <a:ext cx="850392" cy="411480"/>
          </a:xfrm>
          <a:prstGeom prst="rect">
            <a:avLst/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11679" y="4224528"/>
            <a:ext cx="850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7A87"/>
                </a:solidFill>
                <a:latin typeface="Calibri"/>
              </a:rPr>
              <a:t>Cash+
operating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0359" y="3584448"/>
            <a:ext cx="850392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0359" y="3593592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59" y="3931920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-$30K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49039" y="3584448"/>
            <a:ext cx="850392" cy="3200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39" y="3593592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3931920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-$30K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39" y="4224528"/>
            <a:ext cx="850392" cy="411480"/>
          </a:xfrm>
          <a:prstGeom prst="rect">
            <a:avLst/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39" y="4224528"/>
            <a:ext cx="850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7A87"/>
                </a:solidFill>
                <a:latin typeface="Calibri"/>
              </a:rPr>
              <a:t>Acctg+
breakeven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7720" y="3584448"/>
            <a:ext cx="850392" cy="3200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17720" y="3593592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 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7720" y="3931920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-$30K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399" y="3584448"/>
            <a:ext cx="850392" cy="32004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399" y="3593592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 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399" y="3931920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-$29K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79" y="3584448"/>
            <a:ext cx="850392" cy="32004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79" y="3593592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 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5079" y="3931920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-$29K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23759" y="3584448"/>
            <a:ext cx="850392" cy="32004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23759" y="3593592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 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59" y="3931920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-$29K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92440" y="3584448"/>
            <a:ext cx="850392" cy="32004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92440" y="3593592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 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92440" y="3931920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-$28K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92440" y="4224528"/>
            <a:ext cx="850392" cy="411480"/>
          </a:xfrm>
          <a:prstGeom prst="rect">
            <a:avLst/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92440" y="4224528"/>
            <a:ext cx="850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7A87"/>
                </a:solidFill>
                <a:latin typeface="Calibri"/>
              </a:rPr>
              <a:t>+Car #3
planned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61120" y="3584448"/>
            <a:ext cx="850392" cy="32004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61120" y="3593592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 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0" y="3931920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-$27K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29800" y="3584448"/>
            <a:ext cx="850392" cy="32004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29800" y="3593592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 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29800" y="3931920"/>
            <a:ext cx="8503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-$27K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4320" y="4800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B55"/>
                </a:solidFill>
                <a:latin typeface="Calibri"/>
              </a:rPr>
              <a:t>What drives break-even date faster: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5120640"/>
            <a:ext cx="3657600" cy="411480"/>
          </a:xfrm>
          <a:prstGeom prst="rect">
            <a:avLst/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" y="51389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7"/>
                </a:solidFill>
                <a:latin typeface="Calibri"/>
              </a:rPr>
              <a:t>Higher utilisation (85%→100% = +$1,129/month)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06240" y="5120640"/>
            <a:ext cx="3657600" cy="411480"/>
          </a:xfrm>
          <a:prstGeom prst="rect">
            <a:avLst/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7680" y="51389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7"/>
                </a:solidFill>
                <a:latin typeface="Calibri"/>
              </a:rPr>
              <a:t>Fleet growth (Car #3 improves unit economics)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38160" y="5120640"/>
            <a:ext cx="3657600" cy="411480"/>
          </a:xfrm>
          <a:prstGeom prst="rect">
            <a:avLst/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29600" y="51389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7"/>
                </a:solidFill>
                <a:latin typeface="Calibri"/>
              </a:rPr>
              <a:t>Lower insurance (every $500/yr saved = 3 weeks earlier)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4320" y="6583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2F2F2"/>
                </a:solidFill>
                <a:latin typeface="Calibri"/>
              </a:rP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88952" cy="731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P&amp;L — 3 SCENARIOS ACROSS 12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731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  <a:latin typeface="Calibri"/>
              </a:rPr>
              <a:t>SLIDE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30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2F2F2"/>
                </a:solidFill>
                <a:latin typeface="Calibri"/>
              </a:rPr>
              <a:t>Revenue shown net of HST. Depreciation = $556/month (2 cars, 18-month straight-line). Conservative stays at 2 cars; Optimistic adds Car #3 by Month 6.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005840"/>
          <a:ext cx="10243472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868"/>
                <a:gridCol w="1280434"/>
                <a:gridCol w="1280434"/>
                <a:gridCol w="1280434"/>
                <a:gridCol w="1280434"/>
                <a:gridCol w="1280434"/>
                <a:gridCol w="1280434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Line Item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Conservative
M1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Conservative
M12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Base Case
M1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Base Case
M12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Optimistic
M1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Optimistic
M12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Net Rental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$1,740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$1,740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$2,869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$4,198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$3,082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$6,114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Insurance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-$1,500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-$1,500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-$1,500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-$2,250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-$1,500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-$3,000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Maintenance Reserve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-$2,700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-$3,600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Technology + Ops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-$390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-$390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-$421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-$300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-$429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-$866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TOTAL EXPENSES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-$3,690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-$3,690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-$3,721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-$5,250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-$3,729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-$7,466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NET OPERATING INCOME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-$1,950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-$1,950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-$852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-$1,052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-$647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-$1,352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Depreciation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-$1,112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NET INCOME BEFORE TAX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-$2,506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-$2,506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-$1,408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-$1,885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-$1,203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-$2,464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457200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Why is Month 12 (Optimistic) still negative?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892040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Adding Car #3 by Month 6 increases revenue but also increases insurance and maintenance linearly. The tech stack and admin cost stay near-fixed — this is the scale advantage. Accounting profit emerges once the fleet reaches 3+ cars AND the depreciation charge reduces as vehicles are written down over 18 months.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53212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449"/>
                </a:solidFill>
                <a:latin typeface="Calibri"/>
              </a:rPr>
              <a:t>Key insight: Cash operating income (excluding non-cash depreciation) turns POSITIVE by Month 3-4 in Base Case.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943600"/>
            <a:ext cx="5029200" cy="502920"/>
          </a:xfrm>
          <a:prstGeom prst="rect">
            <a:avLst/>
          </a:prstGeom>
          <a:solidFill>
            <a:srgbClr val="F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596188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Conservative (65% util): Never profitable at 2 cars. Must grow fleet OR raise rates.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5943600"/>
            <a:ext cx="6336792" cy="50292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961888"/>
            <a:ext cx="6153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8449"/>
                </a:solidFill>
                <a:latin typeface="Calibri"/>
              </a:rPr>
              <a:t>Base + Optimistic: Viable. Cash-positive by Month 3-4. Accounting-positive by Month 5-6.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83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2F2F2"/>
                </a:solidFill>
                <a:latin typeface="Calibri"/>
              </a:rP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88952" cy="731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SCALE ECONOMICS — WHEN DOES THIS BECOME A REAL BUSINESS?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731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  <a:latin typeface="Calibri"/>
              </a:rPr>
              <a:t>SLIDE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2F2F2"/>
                </a:solidFill>
                <a:latin typeface="Calibri"/>
              </a:rPr>
              <a:t>Unit economics improve as fleet grows: insurance fleet discounts, near-fixed tech costs, higher utilisation rates.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024128"/>
          <a:ext cx="11640311" cy="3721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9287"/>
                <a:gridCol w="2095256"/>
                <a:gridCol w="2095256"/>
                <a:gridCol w="2095256"/>
                <a:gridCol w="2095256"/>
              </a:tblGrid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2 Cars
(Launch)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3 Cars
(Mo. 10)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5 Cars
(Year 2)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10 Cars
(Year 3)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Monthly Gross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$2,819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$4,148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$6,647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$14,105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Insurance (fleet discount)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$1,500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$2,025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$3,000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$5,250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Maintenance Reserve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$2,700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Technology (near-fixed)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$107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$107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$127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$377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All Other Costs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$1,069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TOTAL COSTS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$3,721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$5,250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$8,250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$15,696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NET OPERATING INCOME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-$902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1E8449"/>
                          </a:solidFill>
                          <a:latin typeface="Calibri"/>
                        </a:rPr>
                        <a:t>+$898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1E8449"/>
                          </a:solidFill>
                          <a:latin typeface="Calibri"/>
                        </a:rPr>
                        <a:t>+$2,397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1E8449"/>
                          </a:solidFill>
                          <a:latin typeface="Calibri"/>
                        </a:rPr>
                        <a:t>+$6,409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Depreciation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-$556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-$833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-$1,389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-$2,778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NET INCOME BEFORE TAX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C0392B"/>
                          </a:solidFill>
                          <a:latin typeface="Calibri"/>
                        </a:rPr>
                        <a:t>-$1,458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1E8449"/>
                          </a:solidFill>
                          <a:latin typeface="Calibri"/>
                        </a:rPr>
                        <a:t>+$65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1E8449"/>
                          </a:solidFill>
                          <a:latin typeface="Calibri"/>
                        </a:rPr>
                        <a:t>+$1,008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1E8449"/>
                          </a:solidFill>
                          <a:latin typeface="Calibri"/>
                        </a:rPr>
                        <a:t>+$3,631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ANNUAL NET INCOME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C0392B"/>
                          </a:solidFill>
                          <a:latin typeface="Calibri"/>
                        </a:rPr>
                        <a:t>-$17,496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1E8449"/>
                          </a:solidFill>
                          <a:latin typeface="Calibri"/>
                        </a:rPr>
                        <a:t>+$780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1E8449"/>
                          </a:solidFill>
                          <a:latin typeface="Calibri"/>
                        </a:rPr>
                        <a:t>+$12,096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1E8449"/>
                          </a:solidFill>
                          <a:latin typeface="Calibri"/>
                        </a:rPr>
                        <a:t>+$43,572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5074920"/>
            <a:ext cx="2743200" cy="128016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51023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 Cars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4589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Cash-positive operations begin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943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F4D03F"/>
                </a:solidFill>
                <a:latin typeface="Calibri"/>
              </a:rPr>
              <a:t>Mo. 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5074920"/>
            <a:ext cx="2743200" cy="128016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51023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 Cars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54589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$12K+ annual net income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5943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F4D03F"/>
                </a:solidFill>
                <a:latin typeface="Calibri"/>
              </a:rPr>
              <a:t>Year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5074920"/>
            <a:ext cx="2743200" cy="1280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51023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 Cars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4589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Dayo full-time equivalent ($48K+/yr)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943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F4D03F"/>
                </a:solidFill>
                <a:latin typeface="Calibri"/>
              </a:rPr>
              <a:t>Year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5074920"/>
            <a:ext cx="2743200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51023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10 Cars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54589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$43K+ annual net income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5943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F4D03F"/>
                </a:solidFill>
                <a:latin typeface="Calibri"/>
              </a:rPr>
              <a:t>Year 3+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2F2F2"/>
                </a:solidFill>
                <a:latin typeface="Calibri"/>
              </a:rP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88952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5 FINANCIAL RED FLAGS — Must Resolve Before First Rental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731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SLIDE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These are not suggestions. These are conditions. The business cannot safely operate without resolving each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365760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789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#1 — Insurance Not Bound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No vehicle rented without commercial fleet policy.
Exposure: $0 to $500K+ uninsured accident.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60320"/>
            <a:ext cx="3657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58775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Dayo — Bind by Apr 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005840"/>
            <a:ext cx="3657600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10789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#2 — Capital Underfunded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14630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Original plan showed $22K–$37K (unusable).
Use audited $30,085. Confirm liquid first.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2560320"/>
            <a:ext cx="3657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258775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67E22"/>
                </a:solidFill>
                <a:latin typeface="Calibri"/>
              </a:rPr>
              <a:t>Both — Before Apr 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005840"/>
            <a:ext cx="3657600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0789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#3 — Maintenance Understated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46304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Plan says $600–$800/mo. Audited: $900/car/mo.
1 transmission failure = 3 months profit erased.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560320"/>
            <a:ext cx="3657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58775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67E22"/>
                </a:solidFill>
                <a:latin typeface="Calibri"/>
              </a:rPr>
              <a:t>Both — Day 1 Budget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154680"/>
            <a:ext cx="557784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227832"/>
            <a:ext cx="5394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#4 — HST Not Modelled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611880"/>
            <a:ext cx="53949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13% of rental = CRA's money. Year 1 = $5,005.
Track from Day 1. Never spend HST collected.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709160"/>
            <a:ext cx="5577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7365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392B"/>
                </a:solidFill>
                <a:latin typeface="Calibri"/>
              </a:rPr>
              <a:t>Dayo — Immediate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154680"/>
            <a:ext cx="5577840" cy="19202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3227832"/>
            <a:ext cx="5394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#5 — No Partnership Agreement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79" y="3611880"/>
            <a:ext cx="53949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Gbemiga's tech = $28K–$52K agency value.
Document the split before first vehicle purchase.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709160"/>
            <a:ext cx="5577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473659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A87"/>
                </a:solidFill>
                <a:latin typeface="Calibri"/>
              </a:rPr>
              <a:t>Both — Before Apr 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212080"/>
            <a:ext cx="11640312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230368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BOTTOM LINE:  Proceed with capital discipline. Do not buy cars until $30,085 is confirmed liquid. Do not hand keys to anyone until insurance is bound. Do not spend HST collected.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83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  <a:latin typeface="Calibri"/>
              </a:rP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88952" cy="731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TAX OBLIGATIONS — ONTARIO SMB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731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  <a:latin typeface="Calibri"/>
              </a:rPr>
              <a:t>SLIDE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303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2F2F2"/>
                </a:solidFill>
                <a:latin typeface="Calibri"/>
              </a:rPr>
              <a:t>Tax is not optional. Every dollar not tracked correctly is a CRA liability with interest and penalties.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5029200" cy="210312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515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HST — MOST IMPORTANT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What renter pays per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Rental rate: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783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4D03F"/>
                </a:solidFill>
                <a:latin typeface="Calibri"/>
              </a:rPr>
              <a:t>$300.00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HST (13%):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103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4D03F"/>
                </a:solidFill>
                <a:latin typeface="Calibri"/>
              </a:rPr>
              <a:t>$39.00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Total collected: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4D03F"/>
                </a:solidFill>
                <a:latin typeface="Calibri"/>
              </a:rPr>
              <a:t>$339.00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697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D03F"/>
                </a:solidFill>
                <a:latin typeface="Calibri"/>
              </a:rPr>
              <a:t>The $39 is CRA's money.
NEVER count it as your income.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1005840"/>
            <a:ext cx="6309360" cy="2103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1051560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CCA — VEHICLE TAX DEDUCTION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444752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Class 10 assets (30% declining balance)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783080"/>
            <a:ext cx="6126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Strategy: Do NOT claim full CCA in Year 1 (loss year). Save the deduction for Year 2 when you have taxable income. Your CPA should model this to maximise tax savings.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78892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D03F"/>
                </a:solidFill>
                <a:latin typeface="Calibri"/>
              </a:rPr>
              <a:t>Year 1 CCA available: ~$3,000 (2 cars)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2461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55"/>
                </a:solidFill>
                <a:latin typeface="Calibri"/>
              </a:rPr>
              <a:t>HST REMITTANCE CALENDAR — YEAR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11880"/>
            <a:ext cx="2743200" cy="1280160"/>
          </a:xfrm>
          <a:prstGeom prst="rect">
            <a:avLst/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6393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55"/>
                </a:solidFill>
                <a:latin typeface="Calibri"/>
              </a:rPr>
              <a:t>Q1: Apr–Jun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7A87"/>
                </a:solidFill>
                <a:latin typeface="Calibri"/>
              </a:rPr>
              <a:t>Due: Jun 30,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2793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~$715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6634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Calibri"/>
              </a:rPr>
              <a:t>owing to CRA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611880"/>
            <a:ext cx="2743200" cy="1280160"/>
          </a:xfrm>
          <a:prstGeom prst="rect">
            <a:avLst/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39" y="36393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55"/>
                </a:solidFill>
                <a:latin typeface="Calibri"/>
              </a:rPr>
              <a:t>Q2: Jul–Sep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39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7A87"/>
                </a:solidFill>
                <a:latin typeface="Calibri"/>
              </a:rPr>
              <a:t>Due: Sep 30,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39" y="42793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~$1,430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39" y="46634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Calibri"/>
              </a:rPr>
              <a:t>owing to CRA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611880"/>
            <a:ext cx="2743200" cy="1280160"/>
          </a:xfrm>
          <a:prstGeom prst="rect">
            <a:avLst/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36393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55"/>
                </a:solidFill>
                <a:latin typeface="Calibri"/>
              </a:rPr>
              <a:t>Q3: Oct–Dec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7A87"/>
                </a:solidFill>
                <a:latin typeface="Calibri"/>
              </a:rPr>
              <a:t>Due: Dec 31,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2793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~$1,430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6634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Calibri"/>
              </a:rPr>
              <a:t>owing to CRA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3611880"/>
            <a:ext cx="2743200" cy="1280160"/>
          </a:xfrm>
          <a:prstGeom prst="rect">
            <a:avLst/>
          </a:prstGeom>
          <a:solidFill>
            <a:srgbClr val="E6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440" y="36393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55"/>
                </a:solidFill>
                <a:latin typeface="Calibri"/>
              </a:rPr>
              <a:t>Q4: Jan–Mar 2027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7A87"/>
                </a:solidFill>
                <a:latin typeface="Calibri"/>
              </a:rPr>
              <a:t>Due: Mar 31, 2027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42793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~$1,430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6634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Calibri"/>
              </a:rPr>
              <a:t>owing to CRA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120640"/>
            <a:ext cx="11640312" cy="502920"/>
          </a:xfrm>
          <a:prstGeom prst="rect">
            <a:avLst/>
          </a:prstGeom>
          <a:solidFill>
            <a:srgbClr val="FD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148072"/>
            <a:ext cx="1145743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  <a:latin typeface="Calibri"/>
              </a:rPr>
              <a:t>Year 1 total HST owing to CRA: ~$5,005  |  This flows through your bank account — it is NOT your money.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583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2F2F2"/>
                </a:solidFill>
                <a:latin typeface="Calibri"/>
              </a:rP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88952" cy="731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TECHNOLOGY ROI — THE DEVELOPER'S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731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  <a:latin typeface="Calibri"/>
              </a:rPr>
              <a:t>SLIDE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303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2F2F2"/>
                </a:solidFill>
                <a:latin typeface="Calibri"/>
              </a:rPr>
              <a:t>The tech stack built internally is worth $28K–$52K at agency rates. At 2.4% of revenue, it is the best investment decision in this business plan.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743200" cy="14630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$28K–$52K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6420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Agency equivalent
value of tech 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005840"/>
            <a:ext cx="2743200" cy="146304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0515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66420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Tech cost as %
of monthly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05840"/>
            <a:ext cx="2743200" cy="1463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0515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470–790%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Monthly ROI
on tech 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005840"/>
            <a:ext cx="2743200" cy="1463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0515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$107/mo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166420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Total tech cost
at 2 cars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2606040"/>
          <a:ext cx="11640311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093"/>
                <a:gridCol w="2328062"/>
                <a:gridCol w="2910078"/>
                <a:gridCol w="2910078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Component Built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Agency Build Cost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Monthly Labour Saving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ROI vs. Manual</a:t>
                      </a:r>
                    </a:p>
                  </a:txBody>
                  <a:tcPr>
                    <a:solidFill>
                      <a:srgbClr val="0D2B55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Renter application +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$8K–$15K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$150–$300/mo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Immediate payback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Admin dashboard + fleet management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$10K–$20K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$200–$400/mo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Immediate payback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Stripe automated payment billing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$5K–$8K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$82 saved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Fees &lt; collection labour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Bouncie webhook + kill switch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$3K–$5K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$100+/mo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Security ROI = incalculable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0000"/>
                          </a:solidFill>
                          <a:latin typeface="Calibri"/>
                        </a:rPr>
                        <a:t>PandaDoc e-signature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$2K–$4K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$75/mo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950">
                          <a:solidFill>
                            <a:srgbClr val="000000"/>
                          </a:solidFill>
                          <a:latin typeface="Calibri"/>
                        </a:rPr>
                        <a:t>Legal protection = priceless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TOTAL TECH VALUE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$28K–$52K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$607–$957/mo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950">
                          <a:solidFill>
                            <a:srgbClr val="007A87"/>
                          </a:solidFill>
                          <a:latin typeface="Calibri"/>
                        </a:rPr>
                        <a:t>2.4% of revenue</a:t>
                      </a:r>
                    </a:p>
                  </a:txBody>
                  <a:tcPr>
                    <a:solidFill>
                      <a:srgbClr val="E6F4F6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274320" y="5257800"/>
            <a:ext cx="11640312" cy="77724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285232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449"/>
                </a:solidFill>
                <a:latin typeface="Calibri"/>
              </a:rPr>
              <a:t>Gbemiga's tech build is a capital contribution worth $28,000–$52,000.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623560"/>
            <a:ext cx="114574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This must be formally recognised in the partnership agreement. A 50/50 split without documenting this asymmetry is a business dispute waiting to happen.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83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2F2F2"/>
                </a:solidFill>
                <a:latin typeface="Calibri"/>
              </a:rP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6 CONDITIONS FOR FINANCIAL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FFFFFF"/>
                </a:solidFill>
                <a:latin typeface="Calibri"/>
              </a:rPr>
              <a:t>SLIDE 10 — ACCOUNTANT'S FINAL VERDICT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623560" cy="150876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02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55448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8449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188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Confirm $30,085 is liquid BEFORE buying cars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Not after. If liquid capital is below this, delay or bring in a capital partner.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88920"/>
            <a:ext cx="5623560" cy="150876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788920"/>
            <a:ext cx="502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24612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A87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80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Open a dedicated Easy Drive bank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91839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Never co-mingle with GB Trade general operating funds.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80560"/>
            <a:ext cx="5623560" cy="1508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480560"/>
            <a:ext cx="502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493776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7E22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Set up HST tracking from Day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834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Every invoice shows HST separately. Remit quarterly. Never spend HST collected.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097280"/>
            <a:ext cx="5623560" cy="150876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097280"/>
            <a:ext cx="502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7" y="155448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A87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188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Do not count the $500 deposit as income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6002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It is a liability on your books until damage is confirmed or vehicle returned.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788920"/>
            <a:ext cx="5623560" cy="1508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788920"/>
            <a:ext cx="502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7" y="324612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7E22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880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Maintain $5,000 minimum cash reserve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91839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If it drops below $5K, pause vehicle acquisition until replenished.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480560"/>
            <a:ext cx="5623560" cy="1508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480560"/>
            <a:ext cx="502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7" y="493776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572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Review P&amp;L monthly against this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9834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Two consecutive negative months = mandatory financial review before Month 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217920"/>
            <a:ext cx="11640312" cy="50292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245352"/>
            <a:ext cx="114574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VERDICT: CONDITIONAL GREEN LIGHT  |  The model works. The tech is exceptional. Resolve the 5 red flags and 6 conditions — then launch.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2F2F2"/>
                </a:solidFill>
                <a:latin typeface="Calibri"/>
              </a:rPr>
              <a:t>Easy_Drive_Financial_Report.docx  |  Easy_Drive_Financial_Model.xlsx  |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